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1" d="100"/>
          <a:sy n="141" d="100"/>
        </p:scale>
        <p:origin x="666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954975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28016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AIMPLIFY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731520" y="22860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93C5F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Brand &amp; Style Guide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301752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System, Branding Standards &amp; UI Patterns for InfoVision's AI Capabilities Platform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42062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v1.0  ·  April 2026  ·  Internal Use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858000" y="1097280"/>
            <a:ext cx="1828800" cy="1828800"/>
          </a:xfrm>
          <a:prstGeom prst="rect">
            <a:avLst/>
          </a:prstGeom>
          <a:solidFill>
            <a:srgbClr val="3B82F6">
              <a:alpha val="85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132320" y="1371600"/>
            <a:ext cx="1828800" cy="1828800"/>
          </a:xfrm>
          <a:prstGeom prst="rect">
            <a:avLst/>
          </a:prstGeom>
          <a:solidFill>
            <a:srgbClr val="8B5CF6">
              <a:alpha val="85000"/>
            </a:srgbClr>
          </a:solidFill>
          <a:ln w="12700">
            <a:solidFill>
              <a:srgbClr val="8B5CF6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23444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234440" y="12344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Identity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566160" y="123444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Logo, AIMPLIFY mark, co-branding with InfoVision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160020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234440" y="16002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 System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566160" y="160020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Primary, semantic, and extended palette with usage rules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196596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234440" y="19659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Typography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566160" y="196596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Poppins type scale, weights, and pairing guidelines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" y="233172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234440" y="23317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Iconography &amp; Visual Language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566160" y="23317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 icon style, illustration principles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0080" y="269748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234440" y="26974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Spacing &amp; Layout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566160" y="269748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system, card patterns, page templates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0080" y="306324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234440" y="30632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Library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566160" y="306324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Chips, badges, buttons, cards, form elements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40080" y="342900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234440" y="34290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&amp; Data Visualization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566160" y="342900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Maturity badges, AI scores, pipeline stages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40080" y="379476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234440" y="37947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&amp; Tone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566160" y="379476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style for UI copy, descriptions, and documentation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40080" y="416052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234440" y="41605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Templates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3566160" y="41605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Catalog, Pipeline, Detail, Submit — page patterns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40080" y="452628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1234440" y="45262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Do's and Don'ts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3566160" y="452628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mistakes and correct patterns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286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50292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Identity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1280160"/>
            <a:ext cx="3657600" cy="1645920"/>
          </a:xfrm>
          <a:prstGeom prst="rect">
            <a:avLst/>
          </a:prstGeom>
          <a:solidFill>
            <a:srgbClr val="0F172A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97280" y="1691640"/>
            <a:ext cx="457200" cy="4572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7" name="Text 5"/>
          <p:cNvSpPr/>
          <p:nvPr/>
        </p:nvSpPr>
        <p:spPr>
          <a:xfrm>
            <a:off x="109728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691640" y="16916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AIMPLIFY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40080" y="3017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lockup — dark background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846320" y="1280160"/>
            <a:ext cx="3657600" cy="164592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303520" y="1691640"/>
            <a:ext cx="457200" cy="4572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2" name="Text 10"/>
          <p:cNvSpPr/>
          <p:nvPr/>
        </p:nvSpPr>
        <p:spPr>
          <a:xfrm>
            <a:off x="530352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897880" y="16916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AIMPLIFY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846320" y="3017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lockup — light background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40080" y="3520440"/>
            <a:ext cx="7863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Co-branding with InfoVision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InfoVision logo always appears to the left, separated by a 1px vertical divider (#E5E7EB). The AIMPLIFY mark follows with the gradient icon + wordmark. Minimum spacing between the divider and each logo is 14px.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stack the logos vertically. Never alter the gradient on the Ai icon.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286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50292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 System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40080" y="11430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Palette</a:t>
            </a:r>
            <a:endParaRPr lang="en-US" sz="14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554480"/>
            <a:ext cx="548640" cy="548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80160" y="155448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#3B82F6</a:t>
            </a:r>
            <a:endParaRPr lang="en-US" sz="1000" dirty="0"/>
          </a:p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 500</a:t>
            </a:r>
            <a:endParaRPr lang="en-US" sz="1000" dirty="0"/>
          </a:p>
          <a:p>
            <a:pPr marL="0" indent="0">
              <a:buNone/>
            </a:pPr>
            <a:r>
              <a:rPr lang="en-US" sz="8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actions, links, active states</a:t>
            </a:r>
            <a:endParaRPr lang="en-US" sz="10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51760" y="1554480"/>
            <a:ext cx="548640" cy="54864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291840" y="155448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#1E40AF</a:t>
            </a:r>
            <a:endParaRPr lang="en-US" sz="1000" dirty="0"/>
          </a:p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 800</a:t>
            </a:r>
            <a:endParaRPr lang="en-US" sz="1000" dirty="0"/>
          </a:p>
          <a:p>
            <a:pPr marL="0" indent="0">
              <a:buNone/>
            </a:pPr>
            <a:r>
              <a:rPr lang="en-US" sz="8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Hover states, emphasis</a:t>
            </a:r>
            <a:endParaRPr lang="en-US" sz="10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63440" y="1554480"/>
            <a:ext cx="548640" cy="54864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5303520" y="155448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#EFF6FF</a:t>
            </a:r>
            <a:endParaRPr lang="en-US" sz="1000" dirty="0"/>
          </a:p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 50</a:t>
            </a:r>
            <a:endParaRPr lang="en-US" sz="1000" dirty="0"/>
          </a:p>
          <a:p>
            <a:pPr marL="0" indent="0">
              <a:buNone/>
            </a:pPr>
            <a:r>
              <a:rPr lang="en-US" sz="8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backgrounds, highlights</a:t>
            </a:r>
            <a:endParaRPr lang="en-US" sz="10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75120" y="1554480"/>
            <a:ext cx="548640" cy="54864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7315200" y="155448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#1a1a2e</a:t>
            </a:r>
            <a:endParaRPr lang="en-US" sz="1000" dirty="0"/>
          </a:p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</a:t>
            </a:r>
            <a:endParaRPr lang="en-US" sz="1000" dirty="0"/>
          </a:p>
          <a:p>
            <a:pPr marL="0" indent="0">
              <a:buNone/>
            </a:pPr>
            <a:r>
              <a:rPr lang="en-US" sz="8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text, headings</a:t>
            </a:r>
            <a:endParaRPr lang="en-US" sz="1000" dirty="0"/>
          </a:p>
        </p:txBody>
      </p:sp>
      <p:sp>
        <p:nvSpPr>
          <p:cNvPr id="14" name="Text 8"/>
          <p:cNvSpPr/>
          <p:nvPr/>
        </p:nvSpPr>
        <p:spPr>
          <a:xfrm>
            <a:off x="640080" y="23774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Colors</a:t>
            </a:r>
            <a:endParaRPr lang="en-US" sz="140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2960" y="2788920"/>
            <a:ext cx="457200" cy="45720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640080" y="3291840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#22C55E</a:t>
            </a:r>
            <a:endParaRPr lang="en-US" sz="10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</a:t>
            </a:r>
            <a:endParaRPr lang="en-US" sz="10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Success, validated, platform pillar</a:t>
            </a:r>
            <a:endParaRPr lang="en-US" sz="1000" dirty="0"/>
          </a:p>
        </p:txBody>
      </p:sp>
      <p:pic>
        <p:nvPicPr>
          <p:cNvPr id="1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468880" y="2788920"/>
            <a:ext cx="457200" cy="457200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2286000" y="3291840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#F59E0B</a:t>
            </a:r>
            <a:endParaRPr lang="en-US" sz="10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Amber</a:t>
            </a:r>
            <a:endParaRPr lang="en-US" sz="10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Warning, experimental, accelerator pillar</a:t>
            </a:r>
            <a:endParaRPr lang="en-US" sz="1000" dirty="0"/>
          </a:p>
        </p:txBody>
      </p:sp>
      <p:pic>
        <p:nvPicPr>
          <p:cNvPr id="19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114800" y="2788920"/>
            <a:ext cx="457200" cy="457200"/>
          </a:xfrm>
          <a:prstGeom prst="rect">
            <a:avLst/>
          </a:prstGeom>
        </p:spPr>
      </p:pic>
      <p:sp>
        <p:nvSpPr>
          <p:cNvPr id="20" name="Text 11"/>
          <p:cNvSpPr/>
          <p:nvPr/>
        </p:nvSpPr>
        <p:spPr>
          <a:xfrm>
            <a:off x="3931920" y="3291840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#EF4444</a:t>
            </a:r>
            <a:endParaRPr lang="en-US" sz="10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</a:t>
            </a:r>
            <a:endParaRPr lang="en-US" sz="10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Error, failed checks, high effort</a:t>
            </a:r>
            <a:endParaRPr lang="en-US" sz="1000" dirty="0"/>
          </a:p>
        </p:txBody>
      </p:sp>
      <p:pic>
        <p:nvPicPr>
          <p:cNvPr id="21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760720" y="2788920"/>
            <a:ext cx="457200" cy="457200"/>
          </a:xfrm>
          <a:prstGeom prst="rect">
            <a:avLst/>
          </a:prstGeom>
        </p:spPr>
      </p:pic>
      <p:sp>
        <p:nvSpPr>
          <p:cNvPr id="22" name="Text 12"/>
          <p:cNvSpPr/>
          <p:nvPr/>
        </p:nvSpPr>
        <p:spPr>
          <a:xfrm>
            <a:off x="5577840" y="3291840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#8B5CF6</a:t>
            </a:r>
            <a:endParaRPr lang="en-US" sz="10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Purple</a:t>
            </a:r>
            <a:endParaRPr lang="en-US" sz="10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Governance, special actions</a:t>
            </a:r>
            <a:endParaRPr lang="en-US" sz="1000" dirty="0"/>
          </a:p>
        </p:txBody>
      </p:sp>
      <p:pic>
        <p:nvPicPr>
          <p:cNvPr id="23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406640" y="2788920"/>
            <a:ext cx="457200" cy="457200"/>
          </a:xfrm>
          <a:prstGeom prst="rect">
            <a:avLst/>
          </a:prstGeom>
        </p:spPr>
      </p:pic>
      <p:sp>
        <p:nvSpPr>
          <p:cNvPr id="24" name="Text 13"/>
          <p:cNvSpPr/>
          <p:nvPr/>
        </p:nvSpPr>
        <p:spPr>
          <a:xfrm>
            <a:off x="7223760" y="3291840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#06B6D4</a:t>
            </a:r>
            <a:endParaRPr lang="en-US" sz="10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Cyan</a:t>
            </a:r>
            <a:endParaRPr lang="en-US" sz="10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cloud, info highlights</a:t>
            </a:r>
            <a:endParaRPr lang="en-US" sz="1000" dirty="0"/>
          </a:p>
        </p:txBody>
      </p:sp>
      <p:sp>
        <p:nvSpPr>
          <p:cNvPr id="25" name="Text 14"/>
          <p:cNvSpPr/>
          <p:nvPr/>
        </p:nvSpPr>
        <p:spPr>
          <a:xfrm>
            <a:off x="640080" y="40690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 Color Mapping</a:t>
            </a:r>
            <a:endParaRPr lang="en-US" sz="1400" dirty="0"/>
          </a:p>
        </p:txBody>
      </p:sp>
      <p:sp>
        <p:nvSpPr>
          <p:cNvPr id="26" name="Shape 15"/>
          <p:cNvSpPr/>
          <p:nvPr/>
        </p:nvSpPr>
        <p:spPr>
          <a:xfrm>
            <a:off x="640080" y="4480560"/>
            <a:ext cx="2286000" cy="411480"/>
          </a:xfrm>
          <a:prstGeom prst="rect">
            <a:avLst/>
          </a:prstGeom>
          <a:solidFill>
            <a:srgbClr val="3B82F6">
              <a:alpha val="12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7" name="Text 16"/>
          <p:cNvSpPr/>
          <p:nvPr/>
        </p:nvSpPr>
        <p:spPr>
          <a:xfrm>
            <a:off x="640080" y="44805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SDLC</a:t>
            </a:r>
            <a:endParaRPr lang="en-US" sz="1100" dirty="0"/>
          </a:p>
        </p:txBody>
      </p:sp>
      <p:sp>
        <p:nvSpPr>
          <p:cNvPr id="28" name="Shape 17"/>
          <p:cNvSpPr/>
          <p:nvPr/>
        </p:nvSpPr>
        <p:spPr>
          <a:xfrm>
            <a:off x="3383280" y="4480560"/>
            <a:ext cx="2286000" cy="411480"/>
          </a:xfrm>
          <a:prstGeom prst="rect">
            <a:avLst/>
          </a:prstGeom>
          <a:solidFill>
            <a:srgbClr val="22C55E">
              <a:alpha val="12000"/>
            </a:srgbClr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9" name="Text 18"/>
          <p:cNvSpPr/>
          <p:nvPr/>
        </p:nvSpPr>
        <p:spPr>
          <a:xfrm>
            <a:off x="3383280" y="44805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Components</a:t>
            </a:r>
            <a:endParaRPr lang="en-US" sz="1100" dirty="0"/>
          </a:p>
        </p:txBody>
      </p:sp>
      <p:sp>
        <p:nvSpPr>
          <p:cNvPr id="30" name="Shape 19"/>
          <p:cNvSpPr/>
          <p:nvPr/>
        </p:nvSpPr>
        <p:spPr>
          <a:xfrm>
            <a:off x="6126480" y="4480560"/>
            <a:ext cx="2286000" cy="411480"/>
          </a:xfrm>
          <a:prstGeom prst="rect">
            <a:avLst/>
          </a:prstGeom>
          <a:solidFill>
            <a:srgbClr val="F59E0B">
              <a:alpha val="12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1" name="Text 20"/>
          <p:cNvSpPr/>
          <p:nvPr/>
        </p:nvSpPr>
        <p:spPr>
          <a:xfrm>
            <a:off x="6126480" y="44805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Horizontal Accelerators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286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50292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Typography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1143000"/>
            <a:ext cx="3931920" cy="347472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2344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Poppins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14400" y="16916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Title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192024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26px · 700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914400" y="22402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Header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14400" y="246888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15-16px · 600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914400" y="27889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 Text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14400" y="301752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13-14px · 400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914400" y="333756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Caption / Meta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14400" y="356616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11-12px · 500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914400" y="38862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 (IDs, code)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14400" y="411480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12px · JetBrains Mono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029200" y="1143000"/>
            <a:ext cx="34747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 Pairing Rules</a:t>
            </a:r>
            <a:endParaRPr lang="en-US" sz="1400" dirty="0"/>
          </a:p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Primary: Poppins (300-700)</a:t>
            </a:r>
            <a:endParaRPr lang="en-US" sz="1400" dirty="0"/>
          </a:p>
          <a:p>
            <a:pPr marL="0" indent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UI text, headings, body, labels, and navigation use Poppins. Weights 300 (light) through 700 (bold).</a:t>
            </a:r>
            <a:endParaRPr lang="en-US" sz="1400" dirty="0"/>
          </a:p>
          <a:p>
            <a:pPr marL="0" indent="0">
              <a:buNone/>
            </a:pPr>
            <a:r>
              <a:rPr lang="en-US" sz="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Monospace: JetBrains Mono (400-500)</a:t>
            </a:r>
            <a:endParaRPr lang="en-US" sz="1400" dirty="0"/>
          </a:p>
          <a:p>
            <a:pPr marL="0" indent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exclusively for asset IDs (AIM-001), submission IDs (SUB-041), code blocks, version numbers, and technical metadata.</a:t>
            </a:r>
            <a:endParaRPr lang="en-US" sz="1400" dirty="0"/>
          </a:p>
          <a:p>
            <a:pPr marL="0" indent="0">
              <a:buNone/>
            </a:pPr>
            <a:r>
              <a:rPr lang="en-US" sz="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Presentations: Calibri / Calibri Light</a:t>
            </a:r>
            <a:endParaRPr lang="en-US" sz="1400" dirty="0"/>
          </a:p>
          <a:p>
            <a:pPr marL="0" indent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slide decks and printed materials where Poppins is unavailable. Calibri Bold for headings, Calibri Light for body.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286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50292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Library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40080" y="11430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Maturity Badges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1508760"/>
            <a:ext cx="1645920" cy="365760"/>
          </a:xfrm>
          <a:prstGeom prst="rect">
            <a:avLst/>
          </a:prstGeom>
          <a:solidFill>
            <a:srgbClr val="FEF3C7"/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5087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Experimental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651760" y="1508760"/>
            <a:ext cx="1645920" cy="365760"/>
          </a:xfrm>
          <a:prstGeom prst="rect">
            <a:avLst/>
          </a:prstGeom>
          <a:solidFill>
            <a:srgbClr val="DCFCE7"/>
          </a:solidFill>
          <a:ln w="6350">
            <a:solidFill>
              <a:srgbClr val="22C55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651760" y="15087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63440" y="1508760"/>
            <a:ext cx="1645920" cy="365760"/>
          </a:xfrm>
          <a:prstGeom prst="rect">
            <a:avLst/>
          </a:prstGeom>
          <a:solidFill>
            <a:srgbClr val="EFF6FF"/>
          </a:solidFill>
          <a:ln w="6350">
            <a:solidFill>
              <a:srgbClr val="3B82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63440" y="15087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Battle-Tested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21031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Status Badges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2468880"/>
            <a:ext cx="1371600" cy="365760"/>
          </a:xfrm>
          <a:prstGeom prst="rect">
            <a:avLst/>
          </a:prstGeom>
          <a:solidFill>
            <a:srgbClr val="EFF6FF"/>
          </a:solidFill>
          <a:ln w="6350">
            <a:solidFill>
              <a:srgbClr val="3B82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24688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Review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240280" y="2468880"/>
            <a:ext cx="1371600" cy="365760"/>
          </a:xfrm>
          <a:prstGeom prst="rect">
            <a:avLst/>
          </a:prstGeom>
          <a:solidFill>
            <a:srgbClr val="FEF3C7"/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240280" y="24688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Changes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840480" y="2468880"/>
            <a:ext cx="1371600" cy="365760"/>
          </a:xfrm>
          <a:prstGeom prst="rect">
            <a:avLst/>
          </a:prstGeom>
          <a:solidFill>
            <a:srgbClr val="F3E8FF"/>
          </a:solidFill>
          <a:ln w="6350">
            <a:solidFill>
              <a:srgbClr val="8B5CF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840480" y="24688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440680" y="2468880"/>
            <a:ext cx="1371600" cy="365760"/>
          </a:xfrm>
          <a:prstGeom prst="rect">
            <a:avLst/>
          </a:prstGeom>
          <a:solidFill>
            <a:srgbClr val="DCFCE7"/>
          </a:solidFill>
          <a:ln w="6350">
            <a:solidFill>
              <a:srgbClr val="22C55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40680" y="24688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040880" y="2468880"/>
            <a:ext cx="1371600" cy="365760"/>
          </a:xfrm>
          <a:prstGeom prst="rect">
            <a:avLst/>
          </a:prstGeom>
          <a:solidFill>
            <a:srgbClr val="FEE2E2"/>
          </a:solidFill>
          <a:ln w="6350">
            <a:solidFill>
              <a:srgbClr val="EF444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040880" y="24688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Rejected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40080" y="31089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Buttons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40080" y="3474720"/>
            <a:ext cx="1645920" cy="4114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" y="34747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Action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560320" y="3474720"/>
            <a:ext cx="164592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560320" y="34747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480560" y="3474720"/>
            <a:ext cx="1645920" cy="411480"/>
          </a:xfrm>
          <a:prstGeom prst="rect">
            <a:avLst/>
          </a:prstGeom>
          <a:solidFill>
            <a:srgbClr val="EFF6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480560" y="34747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Submit Asset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40080" y="4160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Chips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640080" y="4526280"/>
            <a:ext cx="1645920" cy="34747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0080" y="452628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chip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2606040" y="4526280"/>
            <a:ext cx="164592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606040" y="452628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Inactive chip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572000" y="4526280"/>
            <a:ext cx="1645920" cy="3474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72000" y="452628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Cloud: AWS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537960" y="4526280"/>
            <a:ext cx="1645920" cy="34747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537960" y="452628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Demo-Ready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286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50292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Spacing &amp; Layout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40080" y="1097280"/>
            <a:ext cx="411480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System</a:t>
            </a:r>
            <a:endParaRPr lang="en-US" sz="1400" dirty="0"/>
          </a:p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40px page padding (both sides)</a:t>
            </a:r>
            <a:endParaRPr lang="en-US" sz="1400" dirty="0"/>
          </a:p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16px gap between grid cards</a:t>
            </a:r>
            <a:endParaRPr lang="en-US" sz="1400" dirty="0"/>
          </a:p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32px gap between main content and sidebar</a:t>
            </a:r>
            <a:endParaRPr lang="en-US" sz="1400" dirty="0"/>
          </a:p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Sidebar fixed at 320px width</a:t>
            </a:r>
            <a:endParaRPr lang="en-US" sz="1400" dirty="0"/>
          </a:p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3-column grid for catalog cards</a:t>
            </a:r>
            <a:endParaRPr lang="en-US" sz="1400" dirty="0"/>
          </a:p>
          <a:p>
            <a:pPr marL="0" indent="0">
              <a:buNone/>
            </a:pPr>
            <a:r>
              <a:rPr lang="en-US" sz="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 Anatomy</a:t>
            </a:r>
            <a:endParaRPr lang="en-US" sz="1400" dirty="0"/>
          </a:p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22px 24px internal padding</a:t>
            </a:r>
            <a:endParaRPr lang="en-US" sz="1400" dirty="0"/>
          </a:p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14px border-radius (cards), 8px (inputs, buttons)</a:t>
            </a:r>
            <a:endParaRPr lang="en-US" sz="1400" dirty="0"/>
          </a:p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1px solid #E5E7EB border (default)</a:t>
            </a:r>
            <a:endParaRPr lang="en-US" sz="1400" dirty="0"/>
          </a:p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#D1D5DB border on hover</a:t>
            </a:r>
            <a:endParaRPr lang="en-US" sz="1400" dirty="0"/>
          </a:p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Hover: translateY(-3px) + 0 12px 40px rgba(0,0,0,0.08) shadow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0" y="1097280"/>
            <a:ext cx="347472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Templates</a:t>
            </a:r>
            <a:endParaRPr lang="en-US" sz="1400" dirty="0"/>
          </a:p>
          <a:p>
            <a:pPr marL="0" indent="0">
              <a:buNone/>
            </a:pPr>
            <a:r>
              <a:rPr lang="en-US" sz="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marL="0" indent="0">
              <a:buNone/>
            </a:pPr>
            <a:r>
              <a:rPr lang="en-US" sz="1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 View</a:t>
            </a:r>
            <a:endParaRPr lang="en-US" sz="1400" dirty="0"/>
          </a:p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Header + filters + 3-col card grid. No sidebar.</a:t>
            </a:r>
            <a:endParaRPr lang="en-US" sz="1400" dirty="0"/>
          </a:p>
          <a:p>
            <a:pPr marL="0" indent="0">
              <a:buNone/>
            </a:pPr>
            <a:r>
              <a:rPr lang="en-US" sz="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marL="0" indent="0">
              <a:buNone/>
            </a:pPr>
            <a:r>
              <a:rPr lang="en-US" sz="1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 View</a:t>
            </a:r>
            <a:endParaRPr lang="en-US" sz="1400" dirty="0"/>
          </a:p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Breadcrumb + main content (1fr) + sidebar (320px).</a:t>
            </a:r>
            <a:endParaRPr lang="en-US" sz="1400" dirty="0"/>
          </a:p>
          <a:p>
            <a:pPr marL="0" indent="0">
              <a:buNone/>
            </a:pPr>
            <a:r>
              <a:rPr lang="en-US" sz="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marL="0" indent="0">
              <a:buNone/>
            </a:pPr>
            <a:r>
              <a:rPr lang="en-US" sz="1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View</a:t>
            </a:r>
            <a:endParaRPr lang="en-US" sz="1400" dirty="0"/>
          </a:p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visualization + filter chips + list rows.</a:t>
            </a:r>
            <a:endParaRPr lang="en-US" sz="1400" dirty="0"/>
          </a:p>
          <a:p>
            <a:pPr marL="0" indent="0">
              <a:buNone/>
            </a:pPr>
            <a:r>
              <a:rPr lang="en-US" sz="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marL="0" indent="0">
              <a:buNone/>
            </a:pPr>
            <a:r>
              <a:rPr lang="en-US" sz="1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Form</a:t>
            </a:r>
            <a:endParaRPr lang="en-US" sz="1400" dirty="0"/>
          </a:p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Centered single-column (max 680px). Back link + form + review checklist.</a:t>
            </a:r>
            <a:endParaRPr lang="en-US" sz="1400" dirty="0"/>
          </a:p>
          <a:p>
            <a:pPr marL="0" indent="0">
              <a:buNone/>
            </a:pPr>
            <a:r>
              <a:rPr lang="en-US" sz="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marL="0" indent="0">
              <a:buNone/>
            </a:pPr>
            <a:r>
              <a:rPr lang="en-US" sz="1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Submission Detail</a:t>
            </a:r>
            <a:endParaRPr lang="en-US" sz="1400" dirty="0"/>
          </a:p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as Detail View layout. AI review findings, remediation notes, governance comments.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286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50292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&amp; Tone</a:t>
            </a:r>
            <a:endParaRPr lang="en-US" sz="28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280160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71600" y="123444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but approachable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for engineers who are busy. Be direct, skip filler. Use active voice. Prefer concrete over abstract.</a:t>
            </a:r>
            <a:endParaRPr lang="en-US" sz="13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2103120"/>
            <a:ext cx="365760" cy="3657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371600" y="2057400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accuracy over marketing polish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 descriptions should state what it does, what it requires, and where it runs. No buzzwords. Versioned, specific, testable claims.</a:t>
            </a:r>
            <a:endParaRPr lang="en-US" sz="13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" y="3017520"/>
            <a:ext cx="365760" cy="36576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371600" y="2971800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Constructive feedback in reviews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review findings should state the issue, explain why it matters, and suggest a specific fix. Never just 'fail' without guidance.</a:t>
            </a:r>
            <a:endParaRPr lang="en-US" sz="1300" dirty="0"/>
          </a:p>
        </p:txBody>
      </p:sp>
      <p:sp>
        <p:nvSpPr>
          <p:cNvPr id="11" name="Shape 6"/>
          <p:cNvSpPr/>
          <p:nvPr/>
        </p:nvSpPr>
        <p:spPr>
          <a:xfrm>
            <a:off x="5029200" y="1188720"/>
            <a:ext cx="3474720" cy="1463040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12" name="Text 7"/>
          <p:cNvSpPr/>
          <p:nvPr/>
        </p:nvSpPr>
        <p:spPr>
          <a:xfrm>
            <a:off x="5212080" y="1280160"/>
            <a:ext cx="3108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</a:t>
            </a:r>
            <a:endParaRPr lang="en-US" sz="1300" dirty="0"/>
          </a:p>
          <a:p>
            <a:pPr marL="0" indent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"Deploys via Terraform on AWS Bedrock + Lambda. Takes ~10 min."</a:t>
            </a:r>
            <a:endParaRPr lang="en-US" sz="1300" dirty="0"/>
          </a:p>
          <a:p>
            <a:pPr marL="0" indent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"Missing audit logging — add middleware from AIM-003."</a:t>
            </a:r>
            <a:endParaRPr lang="en-US" sz="1300" dirty="0"/>
          </a:p>
          <a:p>
            <a:pPr marL="0" indent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"3 checks failed. Fix and resubmit."</a:t>
            </a:r>
            <a:endParaRPr lang="en-US" sz="1300" dirty="0"/>
          </a:p>
        </p:txBody>
      </p:sp>
      <p:sp>
        <p:nvSpPr>
          <p:cNvPr id="13" name="Shape 8"/>
          <p:cNvSpPr/>
          <p:nvPr/>
        </p:nvSpPr>
        <p:spPr>
          <a:xfrm>
            <a:off x="5029200" y="2834640"/>
            <a:ext cx="3474720" cy="1463040"/>
          </a:xfrm>
          <a:prstGeom prst="rect">
            <a:avLst/>
          </a:prstGeom>
          <a:solidFill>
            <a:srgbClr val="FEE2E2"/>
          </a:solidFill>
          <a:ln/>
        </p:spPr>
      </p:sp>
      <p:sp>
        <p:nvSpPr>
          <p:cNvPr id="14" name="Text 9"/>
          <p:cNvSpPr/>
          <p:nvPr/>
        </p:nvSpPr>
        <p:spPr>
          <a:xfrm>
            <a:off x="5212080" y="2926080"/>
            <a:ext cx="3108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</a:t>
            </a:r>
            <a:endParaRPr lang="en-US" sz="1300" dirty="0"/>
          </a:p>
          <a:p>
            <a:pPr marL="0" indent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 cutting-edge, AI-powered solution leveraging the latest innovations..."</a:t>
            </a:r>
            <a:endParaRPr lang="en-US" sz="1300" dirty="0"/>
          </a:p>
          <a:p>
            <a:pPr marL="0" indent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"This submission does not meet our standards."</a:t>
            </a:r>
            <a:endParaRPr lang="en-US" sz="1300" dirty="0"/>
          </a:p>
          <a:p>
            <a:pPr marL="0" indent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"Please review the documentation for more information."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286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50292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Do's and Don'ts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1097280"/>
            <a:ext cx="3749040" cy="3657600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18872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155448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9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Poppins for all UI text, JetBrains Mono for code/IDs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822960" y="187452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9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the InfoVision logo + divider + AIMPLIFY lockup consistent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822960" y="219456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9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semantic color mapping (blue=SDLC, green=Platform, amber=Accelerator)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822960" y="251460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9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12% opacity background with matching border on badges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822960" y="283464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9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14px border-radius for cards, 20px for chips, 8px for inputs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822960" y="315468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9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filter chips as pill-shaped toggles with dot indicators for clouds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822960" y="347472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9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AI review scores color-coded: green 80+, amber 60-79, red &lt;60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822960" y="379476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9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5-stage pipeline visualization consistently across all views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822960" y="411480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9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specific, actionable feedback in AI review findings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754880" y="1097280"/>
            <a:ext cx="3749040" cy="3657600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37760" y="11887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937760" y="155448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</a:t>
            </a:r>
            <a:r>
              <a:rPr lang="en-US" sz="9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emoji icons — keep iconography typographic and minimal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937760" y="187452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</a:t>
            </a:r>
            <a:r>
              <a:rPr lang="en-US" sz="9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glowing effects, pulsing animations, or heavy shadows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937760" y="219456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</a:t>
            </a:r>
            <a:r>
              <a:rPr lang="en-US" sz="9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 color meanings (green for error, red for success)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937760" y="251460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</a:t>
            </a:r>
            <a:r>
              <a:rPr lang="en-US" sz="9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AIMPLIFY mark without the InfoVision logo in external contexts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937760" y="283464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</a:t>
            </a:r>
            <a:r>
              <a:rPr lang="en-US" sz="9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logos vertically or alter the gradient on the Ai icon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937760" y="315468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</a:t>
            </a:r>
            <a:r>
              <a:rPr lang="en-US" sz="9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dark mode for the main catalog (reserve for code blocks only)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937760" y="347472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</a:t>
            </a:r>
            <a:r>
              <a:rPr lang="en-US" sz="9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decorative illustrations — the UI should be content-driven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937760" y="379476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</a:t>
            </a:r>
            <a:r>
              <a:rPr lang="en-US" sz="9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more than 2 font families in any single view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937760" y="411480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</a:t>
            </a:r>
            <a:r>
              <a:rPr lang="en-US" sz="9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pipeline submissions without AI review scores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46304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AIMPLIFY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731520" y="22860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93C5F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Design System v1.0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301752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questions, contributions, or requests for new components,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 out to the AIMPLIFY Platform team or submit via the Contribution Pipeline.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42062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InfoVision  ·  Internal Use Only  ·  April 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1063</Words>
  <Application>Microsoft Office PowerPoint</Application>
  <PresentationFormat>On-screen Show (16:9)</PresentationFormat>
  <Paragraphs>208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AIMPLIFY Brand &amp; Style Guide</dc:title>
  <dc:subject>PptxGenJS Presentation</dc:subject>
  <dc:creator>InfoVision AIMPLIFY</dc:creator>
  <cp:lastModifiedBy>Abhilash Vantaram</cp:lastModifiedBy>
  <cp:revision>1</cp:revision>
  <dcterms:created xsi:type="dcterms:W3CDTF">2026-04-14T18:22:15Z</dcterms:created>
  <dcterms:modified xsi:type="dcterms:W3CDTF">2026-04-14T18:22:56Z</dcterms:modified>
</cp:coreProperties>
</file>